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8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19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822960"/>
            <a:ext cx="54864" cy="457200"/>
          </a:xfrm>
          <a:prstGeom prst="rect">
            <a:avLst/>
          </a:prstGeom>
          <a:solidFill>
            <a:srgbClr val="5CE1E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822960"/>
            <a:ext cx="457200" cy="54864"/>
          </a:xfrm>
          <a:prstGeom prst="rect">
            <a:avLst/>
          </a:prstGeom>
          <a:solidFill>
            <a:srgbClr val="5CE1E6"/>
          </a:solidFill>
          <a:ln/>
        </p:spPr>
      </p:sp>
      <p:sp>
        <p:nvSpPr>
          <p:cNvPr id="4" name="Shape 2"/>
          <p:cNvSpPr/>
          <p:nvPr/>
        </p:nvSpPr>
        <p:spPr>
          <a:xfrm>
            <a:off x="11612880" y="822960"/>
            <a:ext cx="54864" cy="457200"/>
          </a:xfrm>
          <a:prstGeom prst="rect">
            <a:avLst/>
          </a:prstGeom>
          <a:solidFill>
            <a:srgbClr val="5CE1E6"/>
          </a:solidFill>
          <a:ln/>
        </p:spPr>
      </p:sp>
      <p:sp>
        <p:nvSpPr>
          <p:cNvPr id="5" name="Shape 3"/>
          <p:cNvSpPr/>
          <p:nvPr/>
        </p:nvSpPr>
        <p:spPr>
          <a:xfrm>
            <a:off x="11210544" y="822960"/>
            <a:ext cx="457200" cy="54864"/>
          </a:xfrm>
          <a:prstGeom prst="rect">
            <a:avLst/>
          </a:prstGeom>
          <a:solidFill>
            <a:srgbClr val="5CE1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RETENUE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&amp; suivi de véhicules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temps réel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vidéo : YOLOv11 pour la détection, BoT-SORT (ReID) pour le tracking,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d'intérêt pour l'extraction d'événements temporels structurés.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12700">
            <a:solidFill>
              <a:srgbClr val="8B93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vid.mp4  →  events.json  +  video_annotated.mp4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 du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traitement séquentielle, de la vidéo brute aux événements exploitables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6636" y="2331720"/>
            <a:ext cx="169164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532888"/>
            <a:ext cx="658368" cy="65836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6" name="Image 0" descr="/home/claude/pptx_work/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6791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" y="32644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d'entrée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89788" y="36118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vid.mp4 (OpenCV)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26564" y="3095244"/>
            <a:ext cx="164592" cy="164592"/>
          </a:xfrm>
          <a:prstGeom prst="rightArrow">
            <a:avLst/>
          </a:prstGeom>
          <a:solidFill>
            <a:srgbClr val="C7CCDB"/>
          </a:solidFill>
          <a:ln/>
        </p:spPr>
      </p:sp>
      <p:sp>
        <p:nvSpPr>
          <p:cNvPr id="10" name="Shape 7"/>
          <p:cNvSpPr/>
          <p:nvPr/>
        </p:nvSpPr>
        <p:spPr>
          <a:xfrm>
            <a:off x="2409444" y="2331720"/>
            <a:ext cx="1691640" cy="1691640"/>
          </a:xfrm>
          <a:prstGeom prst="roundRect">
            <a:avLst>
              <a:gd name="adj" fmla="val 4865"/>
            </a:avLst>
          </a:prstGeom>
          <a:solidFill>
            <a:srgbClr val="141B45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0" y="2532888"/>
            <a:ext cx="658368" cy="65836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12" name="Image 1" descr="/home/claude/pptx_work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267919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82596" y="32644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482596" y="36118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(yolo11n.pt)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119372" y="3095244"/>
            <a:ext cx="164592" cy="164592"/>
          </a:xfrm>
          <a:prstGeom prst="rightArrow">
            <a:avLst/>
          </a:prstGeom>
          <a:solidFill>
            <a:srgbClr val="C7CCDB"/>
          </a:solidFill>
          <a:ln/>
        </p:spPr>
      </p:sp>
      <p:sp>
        <p:nvSpPr>
          <p:cNvPr id="16" name="Shape 12"/>
          <p:cNvSpPr/>
          <p:nvPr/>
        </p:nvSpPr>
        <p:spPr>
          <a:xfrm>
            <a:off x="4302252" y="2331720"/>
            <a:ext cx="169164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18888" y="2532888"/>
            <a:ext cx="658368" cy="65836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18" name="Image 2" descr="/home/claude/pptx_work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267919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75404" y="32644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375404" y="36118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BoT-SORT + ReID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012180" y="3095244"/>
            <a:ext cx="164592" cy="164592"/>
          </a:xfrm>
          <a:prstGeom prst="rightArrow">
            <a:avLst/>
          </a:prstGeom>
          <a:solidFill>
            <a:srgbClr val="C7CCDB"/>
          </a:solidFill>
          <a:ln/>
        </p:spPr>
      </p:sp>
      <p:sp>
        <p:nvSpPr>
          <p:cNvPr id="22" name="Shape 17"/>
          <p:cNvSpPr/>
          <p:nvPr/>
        </p:nvSpPr>
        <p:spPr>
          <a:xfrm>
            <a:off x="6195060" y="2331720"/>
            <a:ext cx="1691640" cy="1691640"/>
          </a:xfrm>
          <a:prstGeom prst="roundRect">
            <a:avLst>
              <a:gd name="adj" fmla="val 4865"/>
            </a:avLst>
          </a:prstGeom>
          <a:solidFill>
            <a:srgbClr val="141B45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11696" y="2532888"/>
            <a:ext cx="658368" cy="65836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24" name="Image 3" descr="/home/claude/pptx_work/z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67919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268212" y="32644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(ROI)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268212" y="36118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Polygone d'intérêt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904988" y="3095244"/>
            <a:ext cx="164592" cy="164592"/>
          </a:xfrm>
          <a:prstGeom prst="rightArrow">
            <a:avLst/>
          </a:prstGeom>
          <a:solidFill>
            <a:srgbClr val="C7CCDB"/>
          </a:solidFill>
          <a:ln/>
        </p:spPr>
      </p:sp>
      <p:sp>
        <p:nvSpPr>
          <p:cNvPr id="28" name="Shape 22"/>
          <p:cNvSpPr/>
          <p:nvPr/>
        </p:nvSpPr>
        <p:spPr>
          <a:xfrm>
            <a:off x="8087868" y="2331720"/>
            <a:ext cx="169164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604504" y="2532888"/>
            <a:ext cx="658368" cy="65836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30" name="Image 4" descr="/home/claude/pptx_work/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808" y="2679192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161020" y="32644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8161020" y="36118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Structurés + horodatés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797796" y="3095244"/>
            <a:ext cx="164592" cy="164592"/>
          </a:xfrm>
          <a:prstGeom prst="rightArrow">
            <a:avLst/>
          </a:prstGeom>
          <a:solidFill>
            <a:srgbClr val="C7CCDB"/>
          </a:solidFill>
          <a:ln/>
        </p:spPr>
      </p:sp>
      <p:sp>
        <p:nvSpPr>
          <p:cNvPr id="34" name="Shape 27"/>
          <p:cNvSpPr/>
          <p:nvPr/>
        </p:nvSpPr>
        <p:spPr>
          <a:xfrm>
            <a:off x="9980676" y="2331720"/>
            <a:ext cx="1691640" cy="1691640"/>
          </a:xfrm>
          <a:prstGeom prst="roundRect">
            <a:avLst>
              <a:gd name="adj" fmla="val 4865"/>
            </a:avLst>
          </a:prstGeom>
          <a:solidFill>
            <a:srgbClr val="141B45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497312" y="2532888"/>
            <a:ext cx="658368" cy="65836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36" name="Image 5" descr="/home/claude/pptx_work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3616" y="2679192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53828" y="32644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10053828" y="36118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vidéo annotée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48640" y="47091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1F3FA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777240" y="47091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 : </a:t>
            </a:r>
            <a:r>
              <a:rPr lang="en-US" sz="1250" dirty="0">
                <a:solidFill>
                  <a:srgbClr val="3B4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Vidéo → OpenCV → YOLOv11 → BoT-SORT → ROI → Événements temporels → JSON / Vidéo annotée</a:t>
            </a:r>
            <a:endParaRPr lang="en-US" sz="125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image par image : chaque frame lue par OpenCV est envoyée au détecteur avant d'être passée au tracker, puis testée contre la zone d'intérêt.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Détail des composants clés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et responsabilité de chaque étage du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work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28800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002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vidéo — OpenCV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2938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vid.mp4 est lue frame par frame avec OpenCV, qui fournit également l'affichage de la zone d'intérêt et la production de la vidéo annotée finale.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10881360" cy="0"/>
          </a:xfrm>
          <a:prstGeom prst="line">
            <a:avLst/>
          </a:prstGeom>
          <a:noFill/>
          <a:ln w="12700">
            <a:solidFill>
              <a:srgbClr val="E7E9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10" name="Image 1" descr="/home/claude/pptx_work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980944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75234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— YOLOv11 (yolo11n.pt)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0815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frame est analysée par YOLOv11 pour localiser les véhicules (voitures, bus, camions) et leur attribuer une confiance de détection.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849624"/>
            <a:ext cx="10881360" cy="0"/>
          </a:xfrm>
          <a:prstGeom prst="line">
            <a:avLst/>
          </a:prstGeom>
          <a:noFill/>
          <a:ln w="12700">
            <a:solidFill>
              <a:srgbClr val="E7E9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0142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work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1330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9044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— BoT-SORT (botsort_reid.yaml)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423367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détections sont associées d'une frame à l'autre grâce à BoT-SORT avec ré-identification (ReID), attribuant un Track ID stable à chaque véhicule suivi.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5001768"/>
            <a:ext cx="10881360" cy="0"/>
          </a:xfrm>
          <a:prstGeom prst="line">
            <a:avLst/>
          </a:prstGeom>
          <a:noFill/>
          <a:ln w="12700">
            <a:solidFill>
              <a:srgbClr val="E7E9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5166360"/>
            <a:ext cx="566928" cy="56692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20" name="Image 3" descr="/home/claude/pptx_work/z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28523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505663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d'intérêt — Zone 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538581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polygone ROI définit une zone d'analyse : la position de chaque véhicule y est testée à chaque frame pour détecter une entrée ou une sortie.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Événements temporels &amp; sorties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zone d'intérêt transforme des positions brutes en événements exploitables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0163A"/>
          </a:solidFill>
          <a:ln w="12700">
            <a:solidFill>
              <a:srgbClr val="2B3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892808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" name="Shape 5"/>
          <p:cNvSpPr/>
          <p:nvPr/>
        </p:nvSpPr>
        <p:spPr>
          <a:xfrm>
            <a:off x="1197864" y="1892808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75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events.json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14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"event": "vehicle_entering_the_zone",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"track_id": 12,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"zone": "Zone A",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4.87,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0.83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480560"/>
            <a:ext cx="4937760" cy="0"/>
          </a:xfrm>
          <a:prstGeom prst="line">
            <a:avLst/>
          </a:prstGeom>
          <a:noFill/>
          <a:ln w="12700">
            <a:solidFill>
              <a:srgbClr val="2B34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track_id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du véhicule (BoT-SORT)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965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965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d'événement (entrée / sortie de zone)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66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5266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en secondes dans la vidéo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568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5568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associée à l'observation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1965960"/>
            <a:ext cx="566928" cy="56692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21" name="Image 0" descr="/home/claude/pptx_work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084832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406640" y="19842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2606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structuré de tous les événements d'entrée/sortie de zone, avec Track ID, horodatage et confiance — exploitable par tout système en aval.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0" y="393192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25" name="Shape 22"/>
          <p:cNvSpPr/>
          <p:nvPr/>
        </p:nvSpPr>
        <p:spPr>
          <a:xfrm>
            <a:off x="6675120" y="4206240"/>
            <a:ext cx="566928" cy="566928"/>
          </a:xfrm>
          <a:prstGeom prst="ellipse">
            <a:avLst/>
          </a:prstGeom>
          <a:solidFill>
            <a:srgbClr val="5CE1E6"/>
          </a:solidFill>
          <a:ln/>
        </p:spPr>
      </p:sp>
      <p:pic>
        <p:nvPicPr>
          <p:cNvPr id="26" name="Image 1" descr="/home/claude/pptx_work/file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325112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406640" y="42245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video_annotated.mp4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6675120" y="48463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vidéo avec bounding boxes, classes de véhicules, Track IDs et tracé de la Zone A — pour la vérification visuelle et la démonstration.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PresentationFormat>Widescreen</PresentationFormat>
  <Paragraphs>58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Saida AOURRAS</cp:lastModifiedBy>
  <cp:revision>1</cp:revision>
  <dcterms:created xsi:type="dcterms:W3CDTF">2026-09-10T19:13:36Z</dcterms:created>
  <dcterms:modified xsi:type="dcterms:W3CDTF">2026-09-10T19:17:10Z</dcterms:modified>
</cp:coreProperties>
</file>